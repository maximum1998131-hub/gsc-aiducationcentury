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Montserrat Semi-Bold" charset="1" panose="00000700000000000000"/>
      <p:regular r:id="rId18"/>
    </p:embeddedFont>
    <p:embeddedFont>
      <p:font typeface="Montserrat Semi-Bold Italics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png" Type="http://schemas.openxmlformats.org/officeDocument/2006/relationships/image"/><Relationship Id="rId7" Target="../media/image23.jpeg" Type="http://schemas.openxmlformats.org/officeDocument/2006/relationships/image"/><Relationship Id="rId8" Target="../media/image24.pn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9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41120" y="630515"/>
            <a:ext cx="1464022" cy="588932"/>
            <a:chOff x="0" y="0"/>
            <a:chExt cx="385586" cy="155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5586" cy="155110"/>
            </a:xfrm>
            <a:custGeom>
              <a:avLst/>
              <a:gdLst/>
              <a:ahLst/>
              <a:cxnLst/>
              <a:rect r="r" b="b" t="t" l="l"/>
              <a:pathLst>
                <a:path h="155110" w="385586">
                  <a:moveTo>
                    <a:pt x="77555" y="0"/>
                  </a:moveTo>
                  <a:lnTo>
                    <a:pt x="308031" y="0"/>
                  </a:lnTo>
                  <a:cubicBezTo>
                    <a:pt x="350864" y="0"/>
                    <a:pt x="385586" y="34722"/>
                    <a:pt x="385586" y="77555"/>
                  </a:cubicBezTo>
                  <a:lnTo>
                    <a:pt x="385586" y="77555"/>
                  </a:lnTo>
                  <a:cubicBezTo>
                    <a:pt x="385586" y="120387"/>
                    <a:pt x="350864" y="155110"/>
                    <a:pt x="30803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5586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9019" y="0"/>
            <a:ext cx="4264059" cy="10287000"/>
            <a:chOff x="0" y="0"/>
            <a:chExt cx="1123044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30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044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7189531"/>
            <a:ext cx="3380381" cy="2068769"/>
            <a:chOff x="0" y="0"/>
            <a:chExt cx="890306" cy="5448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0306" cy="544861"/>
            </a:xfrm>
            <a:custGeom>
              <a:avLst/>
              <a:gdLst/>
              <a:ahLst/>
              <a:cxnLst/>
              <a:rect r="r" b="b" t="t" l="l"/>
              <a:pathLst>
                <a:path h="544861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428058"/>
                  </a:lnTo>
                  <a:cubicBezTo>
                    <a:pt x="890306" y="492567"/>
                    <a:pt x="838012" y="544861"/>
                    <a:pt x="773503" y="544861"/>
                  </a:cubicBezTo>
                  <a:lnTo>
                    <a:pt x="116803" y="544861"/>
                  </a:lnTo>
                  <a:cubicBezTo>
                    <a:pt x="52294" y="544861"/>
                    <a:pt x="0" y="492567"/>
                    <a:pt x="0" y="428058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90306" cy="582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1100" y="7341931"/>
            <a:ext cx="3075708" cy="776477"/>
            <a:chOff x="0" y="0"/>
            <a:chExt cx="810063" cy="204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539643" y="7439573"/>
            <a:ext cx="581194" cy="58119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15508" y="3554967"/>
            <a:ext cx="6661407" cy="200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Artificial Intelligence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126616" y="1922052"/>
            <a:ext cx="2770529" cy="2770529"/>
          </a:xfrm>
          <a:custGeom>
            <a:avLst/>
            <a:gdLst/>
            <a:ahLst/>
            <a:cxnLst/>
            <a:rect r="r" b="b" t="t" l="l"/>
            <a:pathLst>
              <a:path h="2770529" w="2770529">
                <a:moveTo>
                  <a:pt x="0" y="0"/>
                </a:moveTo>
                <a:lnTo>
                  <a:pt x="2770529" y="0"/>
                </a:lnTo>
                <a:lnTo>
                  <a:pt x="2770529" y="2770529"/>
                </a:lnTo>
                <a:lnTo>
                  <a:pt x="0" y="2770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704604" y="1028700"/>
            <a:ext cx="4574117" cy="9480035"/>
          </a:xfrm>
          <a:custGeom>
            <a:avLst/>
            <a:gdLst/>
            <a:ahLst/>
            <a:cxnLst/>
            <a:rect r="r" b="b" t="t" l="l"/>
            <a:pathLst>
              <a:path h="9480035" w="4574117">
                <a:moveTo>
                  <a:pt x="0" y="0"/>
                </a:moveTo>
                <a:lnTo>
                  <a:pt x="4574117" y="0"/>
                </a:lnTo>
                <a:lnTo>
                  <a:pt x="4574117" y="9480035"/>
                </a:lnTo>
                <a:lnTo>
                  <a:pt x="0" y="948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78919" y="3700556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7" y="0"/>
                </a:lnTo>
                <a:lnTo>
                  <a:pt x="2160637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738" t="0" r="-2738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15508" y="2311938"/>
            <a:ext cx="5882600" cy="9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Get to know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TRAINING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3742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CONCERN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9789" y="8403045"/>
            <a:ext cx="2618330" cy="5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WHERE INNOVATION MEETS OPPORTUNITY.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5357" y="7551280"/>
            <a:ext cx="2037135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98499" y="7640193"/>
            <a:ext cx="5541057" cy="129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4"/>
              </a:lnSpc>
            </a:pPr>
            <a:r>
              <a:rPr lang="en-US" sz="2100" spc="-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 (AI) is a field of computer science focused on building systems that can perform tasks which normally require human intelligence.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9789" y="5213878"/>
            <a:ext cx="5882600" cy="9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From Scratch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5649" y="7043693"/>
            <a:ext cx="2037135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64379" y="6431702"/>
            <a:ext cx="3639925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 by Qiqing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364" y="3021822"/>
            <a:ext cx="16613271" cy="6811441"/>
          </a:xfrm>
          <a:custGeom>
            <a:avLst/>
            <a:gdLst/>
            <a:ahLst/>
            <a:cxnLst/>
            <a:rect r="r" b="b" t="t" l="l"/>
            <a:pathLst>
              <a:path h="6811441" w="16613271">
                <a:moveTo>
                  <a:pt x="0" y="0"/>
                </a:moveTo>
                <a:lnTo>
                  <a:pt x="16613272" y="0"/>
                </a:lnTo>
                <a:lnTo>
                  <a:pt x="16613272" y="6811441"/>
                </a:lnTo>
                <a:lnTo>
                  <a:pt x="0" y="68114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47610" y="2026554"/>
            <a:ext cx="13592780" cy="62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1"/>
              </a:lnSpc>
            </a:pPr>
            <a:r>
              <a:rPr lang="en-US" b="true" sz="2251" i="true" spc="-159">
                <a:solidFill>
                  <a:srgbClr val="8FA4C1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ARTIFICIAL INTELLIGENCE (AI) IS A FIELD OF COMPUTER SCIENCE FOCUSED ON BUILDING SYSTEMS THAT CAN PERFORM TASKS WHICH NORMALLY REQUIRE HUMAN INTELLIGENCE.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38" t="0" r="-273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41120" y="630515"/>
            <a:ext cx="1464022" cy="588932"/>
            <a:chOff x="0" y="0"/>
            <a:chExt cx="385586" cy="1551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5586" cy="155110"/>
            </a:xfrm>
            <a:custGeom>
              <a:avLst/>
              <a:gdLst/>
              <a:ahLst/>
              <a:cxnLst/>
              <a:rect r="r" b="b" t="t" l="l"/>
              <a:pathLst>
                <a:path h="155110" w="385586">
                  <a:moveTo>
                    <a:pt x="77555" y="0"/>
                  </a:moveTo>
                  <a:lnTo>
                    <a:pt x="308031" y="0"/>
                  </a:lnTo>
                  <a:cubicBezTo>
                    <a:pt x="350864" y="0"/>
                    <a:pt x="385586" y="34722"/>
                    <a:pt x="385586" y="77555"/>
                  </a:cubicBezTo>
                  <a:lnTo>
                    <a:pt x="385586" y="77555"/>
                  </a:lnTo>
                  <a:cubicBezTo>
                    <a:pt x="385586" y="120387"/>
                    <a:pt x="350864" y="155110"/>
                    <a:pt x="30803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5586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TRAINING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3742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CONCERN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95246" y="2646304"/>
            <a:ext cx="3556351" cy="2667263"/>
          </a:xfrm>
          <a:custGeom>
            <a:avLst/>
            <a:gdLst/>
            <a:ahLst/>
            <a:cxnLst/>
            <a:rect r="r" b="b" t="t" l="l"/>
            <a:pathLst>
              <a:path h="2667263" w="3556351">
                <a:moveTo>
                  <a:pt x="0" y="0"/>
                </a:moveTo>
                <a:lnTo>
                  <a:pt x="3556351" y="0"/>
                </a:lnTo>
                <a:lnTo>
                  <a:pt x="3556351" y="2667263"/>
                </a:lnTo>
                <a:lnTo>
                  <a:pt x="0" y="2667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9303" y="6367511"/>
            <a:ext cx="4251242" cy="2391324"/>
          </a:xfrm>
          <a:custGeom>
            <a:avLst/>
            <a:gdLst/>
            <a:ahLst/>
            <a:cxnLst/>
            <a:rect r="r" b="b" t="t" l="l"/>
            <a:pathLst>
              <a:path h="2391324" w="4251242">
                <a:moveTo>
                  <a:pt x="0" y="0"/>
                </a:moveTo>
                <a:lnTo>
                  <a:pt x="4251242" y="0"/>
                </a:lnTo>
                <a:lnTo>
                  <a:pt x="4251242" y="2391324"/>
                </a:lnTo>
                <a:lnTo>
                  <a:pt x="0" y="2391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99303" y="2816372"/>
            <a:ext cx="4137116" cy="2327128"/>
          </a:xfrm>
          <a:custGeom>
            <a:avLst/>
            <a:gdLst/>
            <a:ahLst/>
            <a:cxnLst/>
            <a:rect r="r" b="b" t="t" l="l"/>
            <a:pathLst>
              <a:path h="2327128" w="4137116">
                <a:moveTo>
                  <a:pt x="0" y="0"/>
                </a:moveTo>
                <a:lnTo>
                  <a:pt x="4137116" y="0"/>
                </a:lnTo>
                <a:lnTo>
                  <a:pt x="4137116" y="2327128"/>
                </a:lnTo>
                <a:lnTo>
                  <a:pt x="0" y="2327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0424" y="2799603"/>
            <a:ext cx="4137116" cy="2327128"/>
          </a:xfrm>
          <a:custGeom>
            <a:avLst/>
            <a:gdLst/>
            <a:ahLst/>
            <a:cxnLst/>
            <a:rect r="r" b="b" t="t" l="l"/>
            <a:pathLst>
              <a:path h="2327128" w="4137116">
                <a:moveTo>
                  <a:pt x="0" y="0"/>
                </a:moveTo>
                <a:lnTo>
                  <a:pt x="4137117" y="0"/>
                </a:lnTo>
                <a:lnTo>
                  <a:pt x="4137117" y="2327128"/>
                </a:lnTo>
                <a:lnTo>
                  <a:pt x="0" y="23271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424" y="6367511"/>
            <a:ext cx="4137116" cy="2321957"/>
          </a:xfrm>
          <a:custGeom>
            <a:avLst/>
            <a:gdLst/>
            <a:ahLst/>
            <a:cxnLst/>
            <a:rect r="r" b="b" t="t" l="l"/>
            <a:pathLst>
              <a:path h="2321957" w="4137116">
                <a:moveTo>
                  <a:pt x="0" y="0"/>
                </a:moveTo>
                <a:lnTo>
                  <a:pt x="4137117" y="0"/>
                </a:lnTo>
                <a:lnTo>
                  <a:pt x="4137117" y="2321957"/>
                </a:lnTo>
                <a:lnTo>
                  <a:pt x="0" y="23219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51333" y="6367511"/>
            <a:ext cx="4227197" cy="2377798"/>
          </a:xfrm>
          <a:custGeom>
            <a:avLst/>
            <a:gdLst/>
            <a:ahLst/>
            <a:cxnLst/>
            <a:rect r="r" b="b" t="t" l="l"/>
            <a:pathLst>
              <a:path h="2377798" w="4227197">
                <a:moveTo>
                  <a:pt x="0" y="0"/>
                </a:moveTo>
                <a:lnTo>
                  <a:pt x="4227197" y="0"/>
                </a:lnTo>
                <a:lnTo>
                  <a:pt x="4227197" y="2377798"/>
                </a:lnTo>
                <a:lnTo>
                  <a:pt x="0" y="23777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25357" y="694639"/>
            <a:ext cx="4296129" cy="69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</a:pPr>
            <a:r>
              <a:rPr lang="en-US" sz="5213" spc="-302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Giants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738" t="0" r="-2738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0968" y="0"/>
            <a:ext cx="17587469" cy="9603920"/>
            <a:chOff x="0" y="0"/>
            <a:chExt cx="4632091" cy="2529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2091" cy="2529427"/>
            </a:xfrm>
            <a:custGeom>
              <a:avLst/>
              <a:gdLst/>
              <a:ahLst/>
              <a:cxnLst/>
              <a:rect r="r" b="b" t="t" l="l"/>
              <a:pathLst>
                <a:path h="2529427" w="463209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06977"/>
                  </a:lnTo>
                  <a:cubicBezTo>
                    <a:pt x="4632091" y="2519376"/>
                    <a:pt x="4622039" y="2529427"/>
                    <a:pt x="4609641" y="2529427"/>
                  </a:cubicBezTo>
                  <a:lnTo>
                    <a:pt x="22450" y="2529427"/>
                  </a:lnTo>
                  <a:cubicBezTo>
                    <a:pt x="10051" y="2529427"/>
                    <a:pt x="0" y="2519376"/>
                    <a:pt x="0" y="2506977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2091" cy="256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36419" y="924288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65001" y="8346801"/>
            <a:ext cx="1822999" cy="182299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35435" y="8917235"/>
            <a:ext cx="682130" cy="6821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014013" y="7723491"/>
            <a:ext cx="2728557" cy="2387487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2830" y="7033841"/>
            <a:ext cx="3380381" cy="2409834"/>
            <a:chOff x="0" y="0"/>
            <a:chExt cx="890306" cy="634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5230" y="7186241"/>
            <a:ext cx="3075708" cy="776477"/>
            <a:chOff x="0" y="0"/>
            <a:chExt cx="810063" cy="2045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44247" y="7275321"/>
            <a:ext cx="581194" cy="58119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95029" y="7088428"/>
            <a:ext cx="3380381" cy="2409834"/>
            <a:chOff x="0" y="0"/>
            <a:chExt cx="890306" cy="6346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47429" y="7240828"/>
            <a:ext cx="3075708" cy="776477"/>
            <a:chOff x="0" y="0"/>
            <a:chExt cx="810063" cy="2045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96447" y="7237068"/>
            <a:ext cx="581194" cy="58119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99348" y="3900470"/>
            <a:ext cx="3380381" cy="2409834"/>
            <a:chOff x="0" y="0"/>
            <a:chExt cx="890306" cy="6346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51748" y="4052870"/>
            <a:ext cx="3075708" cy="776477"/>
            <a:chOff x="0" y="0"/>
            <a:chExt cx="810063" cy="2045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610873" y="4150511"/>
            <a:ext cx="581194" cy="58119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4765094" y="1637027"/>
            <a:ext cx="9164670" cy="95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4"/>
              </a:lnSpc>
              <a:spcBef>
                <a:spcPct val="0"/>
              </a:spcBef>
            </a:pPr>
            <a:r>
              <a:rPr lang="en-US" sz="5603" spc="-32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How do we create an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65094" y="2848442"/>
            <a:ext cx="9164670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Artificial Intelligence 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3919" y="8312395"/>
            <a:ext cx="2618330" cy="5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MODEL START TO MAKE PREDICTIONS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00454" y="7441604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49622" y="8328882"/>
            <a:ext cx="2071321" cy="5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TURN THE MODEL IN TO THE APPS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24612" y="5124437"/>
            <a:ext cx="2129854" cy="9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ASSIGN THE CORRECT DATA TO AI IN ORDER FOR IT TO LEARN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43128" y="7504752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480437" y="4308234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labeling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015621" y="7085143"/>
            <a:ext cx="3380381" cy="2409834"/>
            <a:chOff x="0" y="0"/>
            <a:chExt cx="890306" cy="6346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168021" y="7237543"/>
            <a:ext cx="3075708" cy="776477"/>
            <a:chOff x="0" y="0"/>
            <a:chExt cx="810063" cy="2045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26500" y="7237068"/>
            <a:ext cx="581194" cy="581194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5396710" y="8363697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SHAPE AI BEHAVIOR TO MATCH HUMAN NORMAL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273245" y="7492907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training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099931" y="7033841"/>
            <a:ext cx="3380381" cy="2409834"/>
            <a:chOff x="0" y="0"/>
            <a:chExt cx="890306" cy="63468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252331" y="7186241"/>
            <a:ext cx="3075708" cy="776477"/>
            <a:chOff x="0" y="0"/>
            <a:chExt cx="810063" cy="2045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610873" y="7283882"/>
            <a:ext cx="581194" cy="581194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3481020" y="8312395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REVISE THE MODEL BASE ON THE FEEDBACKS RECEIVED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357555" y="7441604"/>
            <a:ext cx="2243794" cy="52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Feedback and lteration 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186513" y="3900470"/>
            <a:ext cx="3380381" cy="2409834"/>
            <a:chOff x="0" y="0"/>
            <a:chExt cx="890306" cy="6346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38913" y="4052870"/>
            <a:ext cx="3075708" cy="776477"/>
            <a:chOff x="0" y="0"/>
            <a:chExt cx="810063" cy="20450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725582" y="4130872"/>
            <a:ext cx="581194" cy="581194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9567602" y="5179024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PROCESS THE GATHERED DATA AND REMOVE THE NOISES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472263" y="4316794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cleanning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5015557" y="3845883"/>
            <a:ext cx="3380381" cy="2409834"/>
            <a:chOff x="0" y="0"/>
            <a:chExt cx="890306" cy="63468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167957" y="3998283"/>
            <a:ext cx="3075708" cy="776477"/>
            <a:chOff x="0" y="0"/>
            <a:chExt cx="810063" cy="2045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526500" y="4095924"/>
            <a:ext cx="581194" cy="581194"/>
            <a:chOff x="0" y="0"/>
            <a:chExt cx="8128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5396646" y="5124437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GATHER RAW DATA TO FEED THE MODEL</a:t>
            </a:r>
          </a:p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NORMALLY LABLED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273181" y="4253646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842830" y="3845883"/>
            <a:ext cx="3380381" cy="2409834"/>
            <a:chOff x="0" y="0"/>
            <a:chExt cx="890306" cy="63468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95230" y="3998283"/>
            <a:ext cx="3075708" cy="776477"/>
            <a:chOff x="0" y="0"/>
            <a:chExt cx="810063" cy="20450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353772" y="4095924"/>
            <a:ext cx="581194" cy="581194"/>
            <a:chOff x="0" y="0"/>
            <a:chExt cx="812800" cy="8128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223919" y="5124437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DEFIN WHAT YOU WANT THE AI TO SOLVE, WHAT IS THE PROBLEM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00454" y="4253646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Define problem</a:t>
            </a:r>
          </a:p>
        </p:txBody>
      </p:sp>
      <p:sp>
        <p:nvSpPr>
          <p:cNvPr name="Freeform 105" id="105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8" t="0" r="-2738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717518" y="590004"/>
            <a:ext cx="2019368" cy="627923"/>
            <a:chOff x="0" y="0"/>
            <a:chExt cx="531850" cy="16537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31850" cy="165379"/>
            </a:xfrm>
            <a:custGeom>
              <a:avLst/>
              <a:gdLst/>
              <a:ahLst/>
              <a:cxnLst/>
              <a:rect r="r" b="b" t="t" l="l"/>
              <a:pathLst>
                <a:path h="165379" w="531850">
                  <a:moveTo>
                    <a:pt x="82689" y="0"/>
                  </a:moveTo>
                  <a:lnTo>
                    <a:pt x="449161" y="0"/>
                  </a:lnTo>
                  <a:cubicBezTo>
                    <a:pt x="471091" y="0"/>
                    <a:pt x="492123" y="8712"/>
                    <a:pt x="507631" y="24219"/>
                  </a:cubicBezTo>
                  <a:cubicBezTo>
                    <a:pt x="523138" y="39726"/>
                    <a:pt x="531850" y="60759"/>
                    <a:pt x="531850" y="82689"/>
                  </a:cubicBezTo>
                  <a:lnTo>
                    <a:pt x="531850" y="82689"/>
                  </a:lnTo>
                  <a:cubicBezTo>
                    <a:pt x="531850" y="128357"/>
                    <a:pt x="494829" y="165379"/>
                    <a:pt x="449161" y="165379"/>
                  </a:cubicBezTo>
                  <a:lnTo>
                    <a:pt x="82689" y="165379"/>
                  </a:lnTo>
                  <a:cubicBezTo>
                    <a:pt x="37021" y="165379"/>
                    <a:pt x="0" y="128357"/>
                    <a:pt x="0" y="82689"/>
                  </a:cubicBezTo>
                  <a:lnTo>
                    <a:pt x="0" y="82689"/>
                  </a:lnTo>
                  <a:cubicBezTo>
                    <a:pt x="0" y="37021"/>
                    <a:pt x="37021" y="0"/>
                    <a:pt x="82689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31850" cy="203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TRAINING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53742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CONCERN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1703" y="0"/>
            <a:ext cx="4264059" cy="10287000"/>
            <a:chOff x="0" y="0"/>
            <a:chExt cx="112304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30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044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254620"/>
            <a:ext cx="16154354" cy="8077177"/>
          </a:xfrm>
          <a:custGeom>
            <a:avLst/>
            <a:gdLst/>
            <a:ahLst/>
            <a:cxnLst/>
            <a:rect r="r" b="b" t="t" l="l"/>
            <a:pathLst>
              <a:path h="8077177" w="16154354">
                <a:moveTo>
                  <a:pt x="0" y="0"/>
                </a:moveTo>
                <a:lnTo>
                  <a:pt x="16154354" y="0"/>
                </a:lnTo>
                <a:lnTo>
                  <a:pt x="16154354" y="8077177"/>
                </a:lnTo>
                <a:lnTo>
                  <a:pt x="0" y="8077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87388" y="1167481"/>
            <a:ext cx="7713225" cy="9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Deep learning worked!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38" t="0" r="-2738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17518" y="590004"/>
            <a:ext cx="2019368" cy="627923"/>
            <a:chOff x="0" y="0"/>
            <a:chExt cx="531850" cy="1653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1850" cy="165379"/>
            </a:xfrm>
            <a:custGeom>
              <a:avLst/>
              <a:gdLst/>
              <a:ahLst/>
              <a:cxnLst/>
              <a:rect r="r" b="b" t="t" l="l"/>
              <a:pathLst>
                <a:path h="165379" w="531850">
                  <a:moveTo>
                    <a:pt x="82689" y="0"/>
                  </a:moveTo>
                  <a:lnTo>
                    <a:pt x="449161" y="0"/>
                  </a:lnTo>
                  <a:cubicBezTo>
                    <a:pt x="471091" y="0"/>
                    <a:pt x="492123" y="8712"/>
                    <a:pt x="507631" y="24219"/>
                  </a:cubicBezTo>
                  <a:cubicBezTo>
                    <a:pt x="523138" y="39726"/>
                    <a:pt x="531850" y="60759"/>
                    <a:pt x="531850" y="82689"/>
                  </a:cubicBezTo>
                  <a:lnTo>
                    <a:pt x="531850" y="82689"/>
                  </a:lnTo>
                  <a:cubicBezTo>
                    <a:pt x="531850" y="128357"/>
                    <a:pt x="494829" y="165379"/>
                    <a:pt x="449161" y="165379"/>
                  </a:cubicBezTo>
                  <a:lnTo>
                    <a:pt x="82689" y="165379"/>
                  </a:lnTo>
                  <a:cubicBezTo>
                    <a:pt x="37021" y="165379"/>
                    <a:pt x="0" y="128357"/>
                    <a:pt x="0" y="82689"/>
                  </a:cubicBezTo>
                  <a:lnTo>
                    <a:pt x="0" y="82689"/>
                  </a:lnTo>
                  <a:cubicBezTo>
                    <a:pt x="0" y="37021"/>
                    <a:pt x="37021" y="0"/>
                    <a:pt x="82689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1850" cy="203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TRAINING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742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CONCERN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265" y="341540"/>
            <a:ext cx="17587469" cy="9603920"/>
            <a:chOff x="0" y="0"/>
            <a:chExt cx="4632091" cy="2529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2091" cy="2529427"/>
            </a:xfrm>
            <a:custGeom>
              <a:avLst/>
              <a:gdLst/>
              <a:ahLst/>
              <a:cxnLst/>
              <a:rect r="r" b="b" t="t" l="l"/>
              <a:pathLst>
                <a:path h="2529427" w="463209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06977"/>
                  </a:lnTo>
                  <a:cubicBezTo>
                    <a:pt x="4632091" y="2519376"/>
                    <a:pt x="4622039" y="2529427"/>
                    <a:pt x="4609641" y="2529427"/>
                  </a:cubicBezTo>
                  <a:lnTo>
                    <a:pt x="22450" y="2529427"/>
                  </a:lnTo>
                  <a:cubicBezTo>
                    <a:pt x="10051" y="2529427"/>
                    <a:pt x="0" y="2519376"/>
                    <a:pt x="0" y="2506977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2091" cy="256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9081" y="762000"/>
            <a:ext cx="9469839" cy="814592"/>
            <a:chOff x="0" y="0"/>
            <a:chExt cx="2494114" cy="214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0786" y="874830"/>
            <a:ext cx="1665830" cy="588932"/>
            <a:chOff x="0" y="0"/>
            <a:chExt cx="438737" cy="1551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737" cy="155110"/>
            </a:xfrm>
            <a:custGeom>
              <a:avLst/>
              <a:gdLst/>
              <a:ahLst/>
              <a:cxnLst/>
              <a:rect r="r" b="b" t="t" l="l"/>
              <a:pathLst>
                <a:path h="155110" w="438737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736419" y="924288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465001" y="8346801"/>
            <a:ext cx="1822999" cy="18229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35435" y="8917235"/>
            <a:ext cx="682130" cy="6821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014013" y="7723491"/>
            <a:ext cx="2728557" cy="2387487"/>
            <a:chOff x="0" y="0"/>
            <a:chExt cx="8128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0046" y="2421605"/>
            <a:ext cx="5879177" cy="3912159"/>
            <a:chOff x="0" y="0"/>
            <a:chExt cx="910838" cy="606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0838" cy="606096"/>
            </a:xfrm>
            <a:custGeom>
              <a:avLst/>
              <a:gdLst/>
              <a:ahLst/>
              <a:cxnLst/>
              <a:rect r="r" b="b" t="t" l="l"/>
              <a:pathLst>
                <a:path h="606096" w="910838">
                  <a:moveTo>
                    <a:pt x="42139" y="0"/>
                  </a:moveTo>
                  <a:lnTo>
                    <a:pt x="868699" y="0"/>
                  </a:lnTo>
                  <a:cubicBezTo>
                    <a:pt x="891972" y="0"/>
                    <a:pt x="910838" y="18866"/>
                    <a:pt x="910838" y="42139"/>
                  </a:cubicBezTo>
                  <a:lnTo>
                    <a:pt x="910838" y="563957"/>
                  </a:lnTo>
                  <a:cubicBezTo>
                    <a:pt x="910838" y="587230"/>
                    <a:pt x="891972" y="606096"/>
                    <a:pt x="868699" y="606096"/>
                  </a:cubicBezTo>
                  <a:lnTo>
                    <a:pt x="42139" y="606096"/>
                  </a:lnTo>
                  <a:cubicBezTo>
                    <a:pt x="18866" y="606096"/>
                    <a:pt x="0" y="587230"/>
                    <a:pt x="0" y="563957"/>
                  </a:cubicBezTo>
                  <a:lnTo>
                    <a:pt x="0" y="42139"/>
                  </a:lnTo>
                  <a:cubicBezTo>
                    <a:pt x="0" y="18866"/>
                    <a:pt x="18866" y="0"/>
                    <a:pt x="42139" y="0"/>
                  </a:cubicBezTo>
                  <a:close/>
                </a:path>
              </a:pathLst>
            </a:custGeom>
            <a:blipFill>
              <a:blip r:embed="rId4"/>
              <a:stretch>
                <a:fillRect l="-9149" t="0" r="-914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48630" y="6924666"/>
            <a:ext cx="3380381" cy="2409834"/>
            <a:chOff x="0" y="0"/>
            <a:chExt cx="890306" cy="6346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01030" y="7077066"/>
            <a:ext cx="3075708" cy="776477"/>
            <a:chOff x="0" y="0"/>
            <a:chExt cx="810063" cy="204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259572" y="7174707"/>
            <a:ext cx="581194" cy="58119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46695" y="6924666"/>
            <a:ext cx="3380381" cy="2409834"/>
            <a:chOff x="0" y="0"/>
            <a:chExt cx="890306" cy="6346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99095" y="7077066"/>
            <a:ext cx="3075708" cy="776477"/>
            <a:chOff x="0" y="0"/>
            <a:chExt cx="810063" cy="204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57638" y="7174707"/>
            <a:ext cx="581194" cy="58119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44761" y="6924666"/>
            <a:ext cx="3380381" cy="2409834"/>
            <a:chOff x="0" y="0"/>
            <a:chExt cx="890306" cy="6346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90306" cy="634689"/>
            </a:xfrm>
            <a:custGeom>
              <a:avLst/>
              <a:gdLst/>
              <a:ahLst/>
              <a:cxnLst/>
              <a:rect r="r" b="b" t="t" l="l"/>
              <a:pathLst>
                <a:path h="634689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517886"/>
                  </a:lnTo>
                  <a:cubicBezTo>
                    <a:pt x="890306" y="582394"/>
                    <a:pt x="838012" y="634689"/>
                    <a:pt x="773503" y="634689"/>
                  </a:cubicBezTo>
                  <a:lnTo>
                    <a:pt x="116803" y="634689"/>
                  </a:lnTo>
                  <a:cubicBezTo>
                    <a:pt x="52294" y="634689"/>
                    <a:pt x="0" y="582394"/>
                    <a:pt x="0" y="51788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90306" cy="67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97161" y="7077066"/>
            <a:ext cx="3075708" cy="776477"/>
            <a:chOff x="0" y="0"/>
            <a:chExt cx="810063" cy="204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855704" y="7174707"/>
            <a:ext cx="581194" cy="581194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441856" y="976273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829803" y="978486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TRANING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99106" y="978486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594836" y="976273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70766" y="4845015"/>
            <a:ext cx="8229559" cy="129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4"/>
              </a:lnSpc>
            </a:pPr>
            <a:r>
              <a:rPr lang="en-US" sz="2100" spc="-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Businesses are using AI to create more personalized, responsive, and engaging customer experiences. Chatbots, virtual assistants, and recommendation engines are helping brands stay connected to customers 24/7, enhancing loyalty and boosting sales.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870766" y="2448944"/>
            <a:ext cx="9164670" cy="95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4"/>
              </a:lnSpc>
              <a:spcBef>
                <a:spcPct val="0"/>
              </a:spcBef>
            </a:pPr>
            <a:r>
              <a:rPr lang="en-US" sz="5603" spc="-32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Ethical concerns of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870766" y="3660360"/>
            <a:ext cx="9164670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Artificial Intelligence 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129719" y="8203220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WHEN HANDLING SENSITIVE INFORMATION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006254" y="7332430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privacy risks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01289" y="8165120"/>
            <a:ext cx="2071321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AFFECTING FAIRNESS AND ACCURACY.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970025" y="8148633"/>
            <a:ext cx="2129854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FOR DEVELOPMENT AND INTEGRATION.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294795" y="7340991"/>
            <a:ext cx="2243794" cy="26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Bias in algorithms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741651" y="7231049"/>
            <a:ext cx="2243794" cy="52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"/>
              </a:lnSpc>
            </a:pPr>
            <a:r>
              <a:rPr lang="en-US" b="true" sz="1939" spc="-137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Escalate existing gaps 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38" t="0" r="-2738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60786" y="628301"/>
            <a:ext cx="1665830" cy="588932"/>
            <a:chOff x="0" y="0"/>
            <a:chExt cx="438737" cy="155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737" cy="155110"/>
            </a:xfrm>
            <a:custGeom>
              <a:avLst/>
              <a:gdLst/>
              <a:ahLst/>
              <a:cxnLst/>
              <a:rect r="r" b="b" t="t" l="l"/>
              <a:pathLst>
                <a:path h="155110" w="438737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7254052"/>
            <a:ext cx="18288000" cy="3032948"/>
            <a:chOff x="0" y="0"/>
            <a:chExt cx="4816593" cy="798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798801"/>
            </a:xfrm>
            <a:custGeom>
              <a:avLst/>
              <a:gdLst/>
              <a:ahLst/>
              <a:cxnLst/>
              <a:rect r="r" b="b" t="t" l="l"/>
              <a:pathLst>
                <a:path h="798801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77211"/>
                  </a:lnTo>
                  <a:cubicBezTo>
                    <a:pt x="4816592" y="789135"/>
                    <a:pt x="4806926" y="798801"/>
                    <a:pt x="4795002" y="798801"/>
                  </a:cubicBezTo>
                  <a:lnTo>
                    <a:pt x="21590" y="798801"/>
                  </a:lnTo>
                  <a:cubicBezTo>
                    <a:pt x="15864" y="798801"/>
                    <a:pt x="10372" y="796526"/>
                    <a:pt x="6324" y="792478"/>
                  </a:cubicBezTo>
                  <a:cubicBezTo>
                    <a:pt x="2275" y="788429"/>
                    <a:pt x="0" y="782937"/>
                    <a:pt x="0" y="777211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816593" cy="836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8746" y="2263284"/>
            <a:ext cx="7448140" cy="9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How does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8746" y="3506313"/>
            <a:ext cx="6494599" cy="200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Artificial Intelligence 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498499" y="1954177"/>
            <a:ext cx="2770529" cy="2770529"/>
          </a:xfrm>
          <a:custGeom>
            <a:avLst/>
            <a:gdLst/>
            <a:ahLst/>
            <a:cxnLst/>
            <a:rect r="r" b="b" t="t" l="l"/>
            <a:pathLst>
              <a:path h="2770529" w="2770529">
                <a:moveTo>
                  <a:pt x="0" y="0"/>
                </a:moveTo>
                <a:lnTo>
                  <a:pt x="2770528" y="0"/>
                </a:lnTo>
                <a:lnTo>
                  <a:pt x="2770528" y="2770529"/>
                </a:lnTo>
                <a:lnTo>
                  <a:pt x="0" y="2770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829803" y="2377584"/>
            <a:ext cx="6475834" cy="7909416"/>
          </a:xfrm>
          <a:custGeom>
            <a:avLst/>
            <a:gdLst/>
            <a:ahLst/>
            <a:cxnLst/>
            <a:rect r="r" b="b" t="t" l="l"/>
            <a:pathLst>
              <a:path h="7909416" w="6475834">
                <a:moveTo>
                  <a:pt x="0" y="0"/>
                </a:moveTo>
                <a:lnTo>
                  <a:pt x="6475834" y="0"/>
                </a:lnTo>
                <a:lnTo>
                  <a:pt x="6475834" y="7909416"/>
                </a:lnTo>
                <a:lnTo>
                  <a:pt x="0" y="7909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88746" y="6332292"/>
            <a:ext cx="3380381" cy="2257223"/>
            <a:chOff x="0" y="0"/>
            <a:chExt cx="890306" cy="5944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0306" cy="594495"/>
            </a:xfrm>
            <a:custGeom>
              <a:avLst/>
              <a:gdLst/>
              <a:ahLst/>
              <a:cxnLst/>
              <a:rect r="r" b="b" t="t" l="l"/>
              <a:pathLst>
                <a:path h="594495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477692"/>
                  </a:lnTo>
                  <a:cubicBezTo>
                    <a:pt x="890306" y="542200"/>
                    <a:pt x="838012" y="594495"/>
                    <a:pt x="773503" y="594495"/>
                  </a:cubicBezTo>
                  <a:lnTo>
                    <a:pt x="116803" y="594495"/>
                  </a:lnTo>
                  <a:cubicBezTo>
                    <a:pt x="52294" y="594495"/>
                    <a:pt x="0" y="542200"/>
                    <a:pt x="0" y="477692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90306" cy="63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1146" y="6484692"/>
            <a:ext cx="3075708" cy="776477"/>
            <a:chOff x="0" y="0"/>
            <a:chExt cx="810063" cy="204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799689" y="6582334"/>
            <a:ext cx="581194" cy="58119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69835" y="7545806"/>
            <a:ext cx="2618330" cy="75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DRIVES DECISIONS—AND DESTINY.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5403" y="6694041"/>
            <a:ext cx="2037135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for career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42157" y="1944652"/>
            <a:ext cx="3673739" cy="453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4"/>
              </a:lnSpc>
            </a:pPr>
            <a:r>
              <a:rPr lang="en-US" sz="2100" spc="-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AI-powered tools are revolutionizing career growth by automating routine tasks, allowing professionals to focus on high-level strategy and creative problem-solving. By mastering these technologies, individuals can enhance their productivity, personalize their learning paths, and remain competitive in an evolving job market where data-driven insights define leadership and innovation.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955259" y="6173734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7" y="0"/>
                </a:lnTo>
                <a:lnTo>
                  <a:pt x="2160637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88746" y="5365489"/>
            <a:ext cx="7448140" cy="79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96"/>
              </a:lnSpc>
              <a:spcBef>
                <a:spcPct val="0"/>
              </a:spcBef>
            </a:pPr>
            <a:r>
              <a:rPr lang="en-US" sz="4711" spc="-27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Empower your career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738" t="0" r="-2738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60786" y="628301"/>
            <a:ext cx="1665830" cy="588932"/>
            <a:chOff x="0" y="0"/>
            <a:chExt cx="438737" cy="155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737" cy="155110"/>
            </a:xfrm>
            <a:custGeom>
              <a:avLst/>
              <a:gdLst/>
              <a:ahLst/>
              <a:cxnLst/>
              <a:rect r="r" b="b" t="t" l="l"/>
              <a:pathLst>
                <a:path h="155110" w="438737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335578" y="4238848"/>
            <a:ext cx="2235519" cy="1956080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958072" y="3834781"/>
            <a:ext cx="4838887" cy="2764214"/>
          </a:xfrm>
          <a:custGeom>
            <a:avLst/>
            <a:gdLst/>
            <a:ahLst/>
            <a:cxnLst/>
            <a:rect r="r" b="b" t="t" l="l"/>
            <a:pathLst>
              <a:path h="2764214" w="4838887">
                <a:moveTo>
                  <a:pt x="0" y="0"/>
                </a:moveTo>
                <a:lnTo>
                  <a:pt x="4838886" y="0"/>
                </a:lnTo>
                <a:lnTo>
                  <a:pt x="4838886" y="2764214"/>
                </a:lnTo>
                <a:lnTo>
                  <a:pt x="0" y="2764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1323" y="3840636"/>
            <a:ext cx="3580493" cy="2752504"/>
          </a:xfrm>
          <a:custGeom>
            <a:avLst/>
            <a:gdLst/>
            <a:ahLst/>
            <a:cxnLst/>
            <a:rect r="r" b="b" t="t" l="l"/>
            <a:pathLst>
              <a:path h="2752504" w="3580493">
                <a:moveTo>
                  <a:pt x="0" y="0"/>
                </a:moveTo>
                <a:lnTo>
                  <a:pt x="3580492" y="0"/>
                </a:lnTo>
                <a:lnTo>
                  <a:pt x="3580492" y="2752503"/>
                </a:lnTo>
                <a:lnTo>
                  <a:pt x="0" y="27525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16301" y="3891867"/>
            <a:ext cx="5047697" cy="2650041"/>
          </a:xfrm>
          <a:custGeom>
            <a:avLst/>
            <a:gdLst/>
            <a:ahLst/>
            <a:cxnLst/>
            <a:rect r="r" b="b" t="t" l="l"/>
            <a:pathLst>
              <a:path h="2650041" w="5047697">
                <a:moveTo>
                  <a:pt x="0" y="0"/>
                </a:moveTo>
                <a:lnTo>
                  <a:pt x="5047696" y="0"/>
                </a:lnTo>
                <a:lnTo>
                  <a:pt x="5047696" y="2650041"/>
                </a:lnTo>
                <a:lnTo>
                  <a:pt x="0" y="2650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43879" y="7247385"/>
            <a:ext cx="4792541" cy="2683823"/>
          </a:xfrm>
          <a:custGeom>
            <a:avLst/>
            <a:gdLst/>
            <a:ahLst/>
            <a:cxnLst/>
            <a:rect r="r" b="b" t="t" l="l"/>
            <a:pathLst>
              <a:path h="2683823" w="4792541">
                <a:moveTo>
                  <a:pt x="0" y="0"/>
                </a:moveTo>
                <a:lnTo>
                  <a:pt x="4792540" y="0"/>
                </a:lnTo>
                <a:lnTo>
                  <a:pt x="4792540" y="2683823"/>
                </a:lnTo>
                <a:lnTo>
                  <a:pt x="0" y="2683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18441" y="7173559"/>
            <a:ext cx="2918148" cy="2757650"/>
          </a:xfrm>
          <a:custGeom>
            <a:avLst/>
            <a:gdLst/>
            <a:ahLst/>
            <a:cxnLst/>
            <a:rect r="r" b="b" t="t" l="l"/>
            <a:pathLst>
              <a:path h="2757650" w="2918148">
                <a:moveTo>
                  <a:pt x="0" y="0"/>
                </a:moveTo>
                <a:lnTo>
                  <a:pt x="2918148" y="0"/>
                </a:lnTo>
                <a:lnTo>
                  <a:pt x="2918148" y="2757649"/>
                </a:lnTo>
                <a:lnTo>
                  <a:pt x="0" y="27576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02441" y="7173559"/>
            <a:ext cx="4178257" cy="2757650"/>
          </a:xfrm>
          <a:custGeom>
            <a:avLst/>
            <a:gdLst/>
            <a:ahLst/>
            <a:cxnLst/>
            <a:rect r="r" b="b" t="t" l="l"/>
            <a:pathLst>
              <a:path h="2757650" w="4178257">
                <a:moveTo>
                  <a:pt x="0" y="0"/>
                </a:moveTo>
                <a:lnTo>
                  <a:pt x="4178257" y="0"/>
                </a:lnTo>
                <a:lnTo>
                  <a:pt x="4178257" y="2757649"/>
                </a:lnTo>
                <a:lnTo>
                  <a:pt x="0" y="2757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DEPOLY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44121" y="1389588"/>
            <a:ext cx="5599757" cy="82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76"/>
              </a:lnSpc>
              <a:spcBef>
                <a:spcPct val="0"/>
              </a:spcBef>
            </a:pPr>
            <a:r>
              <a:rPr lang="en-US" sz="4911" spc="-28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Industries are using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44121" y="2604041"/>
            <a:ext cx="4415751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AI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738" t="0" r="-2738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42750" y="2337722"/>
            <a:ext cx="7047156" cy="6254075"/>
            <a:chOff x="0" y="0"/>
            <a:chExt cx="1856041" cy="16471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56041" cy="1647164"/>
            </a:xfrm>
            <a:custGeom>
              <a:avLst/>
              <a:gdLst/>
              <a:ahLst/>
              <a:cxnLst/>
              <a:rect r="r" b="b" t="t" l="l"/>
              <a:pathLst>
                <a:path h="1647164" w="1856041">
                  <a:moveTo>
                    <a:pt x="56028" y="0"/>
                  </a:moveTo>
                  <a:lnTo>
                    <a:pt x="1800013" y="0"/>
                  </a:lnTo>
                  <a:cubicBezTo>
                    <a:pt x="1830957" y="0"/>
                    <a:pt x="1856041" y="25085"/>
                    <a:pt x="1856041" y="56028"/>
                  </a:cubicBezTo>
                  <a:lnTo>
                    <a:pt x="1856041" y="1591136"/>
                  </a:lnTo>
                  <a:cubicBezTo>
                    <a:pt x="1856041" y="1605995"/>
                    <a:pt x="1850138" y="1620246"/>
                    <a:pt x="1839631" y="1630754"/>
                  </a:cubicBezTo>
                  <a:cubicBezTo>
                    <a:pt x="1829124" y="1641261"/>
                    <a:pt x="1814873" y="1647164"/>
                    <a:pt x="1800013" y="1647164"/>
                  </a:cubicBezTo>
                  <a:lnTo>
                    <a:pt x="56028" y="1647164"/>
                  </a:lnTo>
                  <a:cubicBezTo>
                    <a:pt x="41168" y="1647164"/>
                    <a:pt x="26918" y="1641261"/>
                    <a:pt x="16410" y="1630754"/>
                  </a:cubicBezTo>
                  <a:cubicBezTo>
                    <a:pt x="5903" y="1620246"/>
                    <a:pt x="0" y="1605995"/>
                    <a:pt x="0" y="1591136"/>
                  </a:cubicBezTo>
                  <a:lnTo>
                    <a:pt x="0" y="56028"/>
                  </a:lnTo>
                  <a:cubicBezTo>
                    <a:pt x="0" y="41168"/>
                    <a:pt x="5903" y="26918"/>
                    <a:pt x="16410" y="16410"/>
                  </a:cubicBezTo>
                  <a:cubicBezTo>
                    <a:pt x="26918" y="5903"/>
                    <a:pt x="41168" y="0"/>
                    <a:pt x="56028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56041" cy="1685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38362" y="4063182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7" y="0"/>
                </a:lnTo>
                <a:lnTo>
                  <a:pt x="2160637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76884" y="3001103"/>
            <a:ext cx="5965328" cy="7285897"/>
          </a:xfrm>
          <a:custGeom>
            <a:avLst/>
            <a:gdLst/>
            <a:ahLst/>
            <a:cxnLst/>
            <a:rect r="r" b="b" t="t" l="l"/>
            <a:pathLst>
              <a:path h="7285897" w="5965328">
                <a:moveTo>
                  <a:pt x="0" y="0"/>
                </a:moveTo>
                <a:lnTo>
                  <a:pt x="5965328" y="0"/>
                </a:lnTo>
                <a:lnTo>
                  <a:pt x="5965328" y="7285897"/>
                </a:lnTo>
                <a:lnTo>
                  <a:pt x="0" y="7285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34598" y="5640912"/>
            <a:ext cx="8229559" cy="32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4"/>
              </a:lnSpc>
            </a:pPr>
            <a:r>
              <a:rPr lang="en-US" sz="2100" spc="-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Code.org Elements of AI Machine Learning for Kids Day of AI (MIT)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4598" y="2517929"/>
            <a:ext cx="9164670" cy="95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4"/>
              </a:lnSpc>
              <a:spcBef>
                <a:spcPct val="0"/>
              </a:spcBef>
            </a:pPr>
            <a:r>
              <a:rPr lang="en-US" sz="5603" spc="-32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Useful Resource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4598" y="3729344"/>
            <a:ext cx="9388534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Learn Ai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4598" y="4899448"/>
            <a:ext cx="9127094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2"/>
              </a:lnSpc>
            </a:pPr>
            <a:r>
              <a:rPr lang="en-US" b="true" sz="2955" i="true" spc="-209">
                <a:solidFill>
                  <a:srgbClr val="8FA4C1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TOMORROW’S BREAKTHROUGHS START TODAY.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991514" y="7549389"/>
            <a:ext cx="3075708" cy="776477"/>
            <a:chOff x="0" y="0"/>
            <a:chExt cx="810063" cy="204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50057" y="7647030"/>
            <a:ext cx="581194" cy="58119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55772" y="7758738"/>
            <a:ext cx="2037135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702597" y="7720638"/>
            <a:ext cx="1602254" cy="1602254"/>
          </a:xfrm>
          <a:custGeom>
            <a:avLst/>
            <a:gdLst/>
            <a:ahLst/>
            <a:cxnLst/>
            <a:rect r="r" b="b" t="t" l="l"/>
            <a:pathLst>
              <a:path h="1602254" w="1602254">
                <a:moveTo>
                  <a:pt x="0" y="0"/>
                </a:moveTo>
                <a:lnTo>
                  <a:pt x="1602254" y="0"/>
                </a:lnTo>
                <a:lnTo>
                  <a:pt x="1602254" y="1602254"/>
                </a:lnTo>
                <a:lnTo>
                  <a:pt x="0" y="1602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738" t="0" r="-2738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50296" y="628301"/>
            <a:ext cx="1708381" cy="588932"/>
            <a:chOff x="0" y="0"/>
            <a:chExt cx="449944" cy="1551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9944" cy="155110"/>
            </a:xfrm>
            <a:custGeom>
              <a:avLst/>
              <a:gdLst/>
              <a:ahLst/>
              <a:cxnLst/>
              <a:rect r="r" b="b" t="t" l="l"/>
              <a:pathLst>
                <a:path h="155110" w="449944">
                  <a:moveTo>
                    <a:pt x="77555" y="0"/>
                  </a:moveTo>
                  <a:lnTo>
                    <a:pt x="372389" y="0"/>
                  </a:lnTo>
                  <a:cubicBezTo>
                    <a:pt x="415221" y="0"/>
                    <a:pt x="449944" y="34722"/>
                    <a:pt x="449944" y="77555"/>
                  </a:cubicBezTo>
                  <a:lnTo>
                    <a:pt x="449944" y="77555"/>
                  </a:lnTo>
                  <a:cubicBezTo>
                    <a:pt x="449944" y="120387"/>
                    <a:pt x="415221" y="155110"/>
                    <a:pt x="372389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49944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CONCERN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50296" y="628301"/>
            <a:ext cx="1708381" cy="588932"/>
            <a:chOff x="0" y="0"/>
            <a:chExt cx="449944" cy="155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44" cy="155110"/>
            </a:xfrm>
            <a:custGeom>
              <a:avLst/>
              <a:gdLst/>
              <a:ahLst/>
              <a:cxnLst/>
              <a:rect r="r" b="b" t="t" l="l"/>
              <a:pathLst>
                <a:path h="155110" w="449944">
                  <a:moveTo>
                    <a:pt x="77555" y="0"/>
                  </a:moveTo>
                  <a:lnTo>
                    <a:pt x="372389" y="0"/>
                  </a:lnTo>
                  <a:cubicBezTo>
                    <a:pt x="415221" y="0"/>
                    <a:pt x="449944" y="34722"/>
                    <a:pt x="449944" y="77555"/>
                  </a:cubicBezTo>
                  <a:lnTo>
                    <a:pt x="449944" y="77555"/>
                  </a:lnTo>
                  <a:cubicBezTo>
                    <a:pt x="449944" y="120387"/>
                    <a:pt x="415221" y="155110"/>
                    <a:pt x="372389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9944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TRANING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CONCERN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8277215"/>
            <a:ext cx="16230600" cy="981085"/>
            <a:chOff x="0" y="0"/>
            <a:chExt cx="4274726" cy="258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258393"/>
            </a:xfrm>
            <a:custGeom>
              <a:avLst/>
              <a:gdLst/>
              <a:ahLst/>
              <a:cxnLst/>
              <a:rect r="r" b="b" t="t" l="l"/>
              <a:pathLst>
                <a:path h="258393" w="4274726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245991"/>
                  </a:lnTo>
                  <a:cubicBezTo>
                    <a:pt x="4274726" y="249280"/>
                    <a:pt x="4273419" y="252434"/>
                    <a:pt x="4271094" y="254760"/>
                  </a:cubicBezTo>
                  <a:cubicBezTo>
                    <a:pt x="4268768" y="257086"/>
                    <a:pt x="4265613" y="258393"/>
                    <a:pt x="4262324" y="258393"/>
                  </a:cubicBezTo>
                  <a:lnTo>
                    <a:pt x="12402" y="258393"/>
                  </a:lnTo>
                  <a:cubicBezTo>
                    <a:pt x="9113" y="258393"/>
                    <a:pt x="5958" y="257086"/>
                    <a:pt x="3632" y="254760"/>
                  </a:cubicBezTo>
                  <a:cubicBezTo>
                    <a:pt x="1307" y="252434"/>
                    <a:pt x="0" y="249280"/>
                    <a:pt x="0" y="245991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74726" cy="296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7066" y="8524763"/>
            <a:ext cx="4747340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www.globalshaper.org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80991" y="8522479"/>
            <a:ext cx="5147564" cy="44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13"/>
              </a:lnSpc>
            </a:pPr>
            <a:r>
              <a:rPr lang="en-US" sz="258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maximum1998131@gmaill.com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6029" y="8540152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505249" y="2197912"/>
            <a:ext cx="2373670" cy="2373670"/>
          </a:xfrm>
          <a:custGeom>
            <a:avLst/>
            <a:gdLst/>
            <a:ahLst/>
            <a:cxnLst/>
            <a:rect r="r" b="b" t="t" l="l"/>
            <a:pathLst>
              <a:path h="2373670" w="2373670">
                <a:moveTo>
                  <a:pt x="0" y="0"/>
                </a:moveTo>
                <a:lnTo>
                  <a:pt x="2373670" y="0"/>
                </a:lnTo>
                <a:lnTo>
                  <a:pt x="2373670" y="2373670"/>
                </a:lnTo>
                <a:lnTo>
                  <a:pt x="0" y="2373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257606" y="4065927"/>
            <a:ext cx="9772788" cy="104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better world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10082" y="2877148"/>
            <a:ext cx="6467837" cy="9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Embracing AI for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06463" y="5321574"/>
            <a:ext cx="7853853" cy="129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100" spc="-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 is not a distant future—it’s the competitive edge of today. Companies that embrace AI thoughtfully and strategically are setting themselves up for sustainable growth, innovation, and leadership in the market.</a:t>
            </a:r>
          </a:p>
        </p:txBody>
      </p:sp>
      <p:grpSp>
        <p:nvGrpSpPr>
          <p:cNvPr name="Group 23" id="23"/>
          <p:cNvGrpSpPr/>
          <p:nvPr/>
        </p:nvGrpSpPr>
        <p:grpSpPr>
          <a:xfrm rot="-5400000">
            <a:off x="210776" y="5585226"/>
            <a:ext cx="3075708" cy="776477"/>
            <a:chOff x="0" y="0"/>
            <a:chExt cx="810063" cy="204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458033" y="4571582"/>
            <a:ext cx="581194" cy="58119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15100104" y="3188832"/>
            <a:ext cx="3075708" cy="776477"/>
            <a:chOff x="0" y="0"/>
            <a:chExt cx="810063" cy="204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6347361" y="4397760"/>
            <a:ext cx="581194" cy="58119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30087" y="188085"/>
            <a:ext cx="1315271" cy="1315271"/>
          </a:xfrm>
          <a:custGeom>
            <a:avLst/>
            <a:gdLst/>
            <a:ahLst/>
            <a:cxnLst/>
            <a:rect r="r" b="b" t="t" l="l"/>
            <a:pathLst>
              <a:path h="1315271" w="1315271">
                <a:moveTo>
                  <a:pt x="0" y="0"/>
                </a:moveTo>
                <a:lnTo>
                  <a:pt x="1315270" y="0"/>
                </a:lnTo>
                <a:lnTo>
                  <a:pt x="1315270" y="1315270"/>
                </a:lnTo>
                <a:lnTo>
                  <a:pt x="0" y="1315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708465" y="199266"/>
            <a:ext cx="1236368" cy="1304089"/>
          </a:xfrm>
          <a:custGeom>
            <a:avLst/>
            <a:gdLst/>
            <a:ahLst/>
            <a:cxnLst/>
            <a:rect r="r" b="b" t="t" l="l"/>
            <a:pathLst>
              <a:path h="1304089" w="1236368">
                <a:moveTo>
                  <a:pt x="0" y="0"/>
                </a:moveTo>
                <a:lnTo>
                  <a:pt x="1236367" y="0"/>
                </a:lnTo>
                <a:lnTo>
                  <a:pt x="1236367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38" t="0" r="-273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DAG9uWJHLvk</dc:identifier>
  <dcterms:modified xsi:type="dcterms:W3CDTF">2011-08-01T06:04:30Z</dcterms:modified>
  <cp:revision>1</cp:revision>
  <dc:title>The Business of</dc:title>
</cp:coreProperties>
</file>